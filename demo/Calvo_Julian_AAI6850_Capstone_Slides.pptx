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in one sentence: a phishing email classifier, and the marketplace it plugs into.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asymmetry is the reason the threshold gets chosen on cost rather than on F1 later.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hand-crafted email features, page content plus search, and URL-only. Then the recent deep learning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Say the corpus is synthetic here rather than later. Every number after this is a result about the pipeline.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families, all built in ml/src/features.py.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M3 is the interesting one. Throwing the text away beats every text model. Same conclusion PILFER reached in 2007.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F1 would not have distinguished these three. Cost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Sender shape and authentication dominate. Permutation importance on M3 agrees with the dense model's coefficients.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of these are synthesiser artifacts. "time sensitive", "kind regards" and "dropbox" are template phrases, not phishing signal. Worth saying out 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this short. The rubric is about the model; this slide accounts for the marketplace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31520" y="1737360"/>
            <a:ext cx="7680960" cy="731520"/>
          </a:xfrm>
          <a:prstGeom prst="rect">
            <a:avLst/>
          </a:prstGeom>
          <a:noFill/>
          <a:ln/>
        </p:spPr>
        <p:txBody>
          <a:bodyPr wrap="square" lIns="0" tIns="0" rIns="0" bIns="0" rtlCol="0" anchor="ctr"/>
          <a:lstStyle/>
          <a:p>
            <a:pPr indent="0" marL="0">
              <a:buNone/>
            </a:pPr>
            <a:r>
              <a:rPr lang="en-US" sz="4000" b="1" dirty="0">
                <a:solidFill>
                  <a:srgbClr val="000000"/>
                </a:solidFill>
                <a:latin typeface="Calibri" pitchFamily="34" charset="0"/>
                <a:ea typeface="Calibri" pitchFamily="34" charset="-122"/>
                <a:cs typeface="Calibri" pitchFamily="34" charset="-120"/>
              </a:rPr>
              <a:t>Phishing email detection</a:t>
            </a:r>
            <a:endParaRPr lang="en-US" sz="4000" dirty="0"/>
          </a:p>
        </p:txBody>
      </p:sp>
      <p:sp>
        <p:nvSpPr>
          <p:cNvPr id="3" name="Text 1"/>
          <p:cNvSpPr/>
          <p:nvPr/>
        </p:nvSpPr>
        <p:spPr>
          <a:xfrm>
            <a:off x="731520" y="2651760"/>
            <a:ext cx="7680960" cy="1097280"/>
          </a:xfrm>
          <a:prstGeom prst="rect">
            <a:avLst/>
          </a:prstGeom>
          <a:noFill/>
          <a:ln/>
        </p:spPr>
        <p:txBody>
          <a:bodyPr wrap="square" lIns="0" tIns="0" rIns="0" bIns="0" rtlCol="0" anchor="ctr"/>
          <a:lstStyle/>
          <a:p>
            <a:pPr indent="0" marL="0">
              <a:lnSpc>
                <a:spcPct val="130000"/>
              </a:lnSpc>
              <a:buNone/>
            </a:pPr>
            <a:r>
              <a:rPr lang="en-US" sz="1600" dirty="0">
                <a:solidFill>
                  <a:srgbClr val="555555"/>
                </a:solidFill>
                <a:latin typeface="Calibri" pitchFamily="34" charset="0"/>
                <a:ea typeface="Calibri" pitchFamily="34" charset="-122"/>
                <a:cs typeface="Calibri" pitchFamily="34" charset="-120"/>
              </a:rPr>
              <a:t>Julian Calvo</a:t>
            </a:r>
            <a:endParaRPr lang="en-US" sz="1600" dirty="0"/>
          </a:p>
          <a:p>
            <a:pPr indent="0" marL="0">
              <a:lnSpc>
                <a:spcPct val="130000"/>
              </a:lnSpc>
              <a:buNone/>
            </a:pPr>
            <a:r>
              <a:rPr lang="en-US" sz="1600" dirty="0">
                <a:solidFill>
                  <a:srgbClr val="555555"/>
                </a:solidFill>
                <a:latin typeface="Calibri" pitchFamily="34" charset="0"/>
                <a:ea typeface="Calibri" pitchFamily="34" charset="-122"/>
                <a:cs typeface="Calibri" pitchFamily="34" charset="-120"/>
              </a:rPr>
              <a:t>AAI6850 capstone, Module 15</a:t>
            </a:r>
            <a:endParaRPr lang="en-US" sz="1600" dirty="0"/>
          </a:p>
          <a:p>
            <a:pPr indent="0" marL="0">
              <a:lnSpc>
                <a:spcPct val="130000"/>
              </a:lnSpc>
              <a:buNone/>
            </a:pPr>
            <a:r>
              <a:rPr lang="en-US" sz="1600" dirty="0">
                <a:solidFill>
                  <a:srgbClr val="555555"/>
                </a:solidFill>
                <a:latin typeface="Calibri" pitchFamily="34" charset="0"/>
                <a:ea typeface="Calibri" pitchFamily="34" charset="-122"/>
                <a:cs typeface="Calibri" pitchFamily="34" charset="-120"/>
              </a:rPr>
              <a:t>August 2026</a:t>
            </a:r>
            <a:endParaRPr lang="en-US" sz="1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The problem</a:t>
            </a:r>
            <a:endParaRPr lang="en-US" sz="2800" dirty="0"/>
          </a:p>
        </p:txBody>
      </p:sp>
      <p:sp>
        <p:nvSpPr>
          <p:cNvPr id="3" name="Text 1"/>
          <p:cNvSpPr/>
          <p:nvPr/>
        </p:nvSpPr>
        <p:spPr>
          <a:xfrm>
            <a:off x="640080" y="1051560"/>
            <a:ext cx="786384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Classify an email as phishing or benign from the subject, body, sender headers and any URLs.</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The costs are not symmetric. A false negative puts a phishing message in an inbox.</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A false positive quarantines legitimate business mail. Enough of those and the security team turns the filter off, which makes the false negatives worse too.</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So: weight a false negative at 4x a false positive, and hold precision at 0.90 or better at whatever operating point I pick.</a:t>
            </a:r>
            <a:endParaRPr lang="en-US" sz="15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Related work</a:t>
            </a:r>
            <a:endParaRPr lang="en-US" sz="28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7863840" cy="914400"/>
        </p:xfrm>
        <a:graphic>
          <a:graphicData uri="http://schemas.openxmlformats.org/drawingml/2006/table">
            <a:tbl>
              <a:tblPr/>
              <a:tblGrid>
                <a:gridCol w="1920240"/>
                <a:gridCol w="548640"/>
                <a:gridCol w="1005840"/>
                <a:gridCol w="2651760"/>
                <a:gridCol w="1737360"/>
              </a:tblGrid>
              <a:tr h="0">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Method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Year</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Classifies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Approach</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050" b="1" dirty="0">
                          <a:solidFill>
                            <a:srgbClr val="000000"/>
                          </a:solidFill>
                          <a:latin typeface="Calibri" pitchFamily="34" charset="0"/>
                          <a:ea typeface="Calibri" pitchFamily="34" charset="-122"/>
                          <a:cs typeface="Calibri" pitchFamily="34" charset="-120"/>
                        </a:rPr>
                        <a:t>Reported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PILFER (Fette et 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2007</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10 structural features, random forest</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99.5% acc, 0.13% FP</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CANTINA (Zhang et 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2007</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web page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TF-IDF signature plus search result</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97% TP, 6% FP</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CANTINA+ (Xiang et 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2011</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web page</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15 URL, DOM and search features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92.5% TP, 0.41% FP</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Ma et 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2009</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URL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lexical plus WHOIS, DNS, AS</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0.9 to 3.0% error</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PhishDef (Le et 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2011</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URL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lexical only, online AROW</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96 to 98% acc</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Fang et al.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2019</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RCNN with attention, char and word</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99.85% acc, 0.04% FP</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Atawneh, Aljehani</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2023</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email</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BERT plus LSTM</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050" dirty="0">
                          <a:solidFill>
                            <a:srgbClr val="000000"/>
                          </a:solidFill>
                          <a:latin typeface="Calibri" pitchFamily="34" charset="0"/>
                          <a:ea typeface="Calibri" pitchFamily="34" charset="-122"/>
                          <a:cs typeface="Calibri" pitchFamily="34" charset="-120"/>
                        </a:rPr>
                        <a:t>99.61% acc, 99.55% F1</a:t>
                      </a:r>
                      <a:endParaRPr lang="en-US" sz="10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4" name="Text 1"/>
          <p:cNvSpPr/>
          <p:nvPr/>
        </p:nvSpPr>
        <p:spPr>
          <a:xfrm>
            <a:off x="640080" y="3794760"/>
            <a:ext cx="7863840" cy="548640"/>
          </a:xfrm>
          <a:prstGeom prst="rect">
            <a:avLst/>
          </a:prstGeom>
          <a:noFill/>
          <a:ln/>
        </p:spPr>
        <p:txBody>
          <a:bodyPr wrap="square" lIns="0" tIns="0" rIns="0" bIns="0" rtlCol="0" anchor="t"/>
          <a:lstStyle/>
          <a:p>
            <a:pPr indent="0" marL="0">
              <a:buNone/>
            </a:pPr>
            <a:r>
              <a:rPr lang="en-US" sz="1200" i="1" dirty="0">
                <a:solidFill>
                  <a:srgbClr val="555555"/>
                </a:solidFill>
                <a:latin typeface="Calibri" pitchFamily="34" charset="0"/>
                <a:ea typeface="Calibri" pitchFamily="34" charset="-122"/>
                <a:cs typeface="Calibri" pitchFamily="34" charset="-120"/>
              </a:rPr>
              <a:t>Not comparable. Different tasks, corpora, eras and class balances. Full discussion in section 2 of the report.</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What I took from the literature</a:t>
            </a:r>
            <a:endParaRPr lang="en-US" sz="2800" dirty="0"/>
          </a:p>
        </p:txBody>
      </p:sp>
      <p:sp>
        <p:nvSpPr>
          <p:cNvPr id="3" name="Text 1"/>
          <p:cNvSpPr/>
          <p:nvPr/>
        </p:nvSpPr>
        <p:spPr>
          <a:xfrm>
            <a:off x="640080" y="1051560"/>
            <a:ext cx="786384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PILFER's claim is that a small set of structural features beats a general spam filter. That is the result my model ladder ends up reproducing.</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The URL-only work (Ma, PhishDef) shows how much signal sits in the link alone, with no page fetch. That motivated a separate URL feature family.</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The 2019 and 2023 deep learning numbers are high, but on corpora whose class balance is either heavily imbalanced or not stated at all.</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So I report a false positive rate at a stated operating point rather than a single accuracy number.</a:t>
            </a:r>
            <a:endParaRPr lang="en-US" sz="15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Data</a:t>
            </a:r>
            <a:endParaRPr lang="en-US" sz="2800" dirty="0"/>
          </a:p>
        </p:txBody>
      </p:sp>
      <p:sp>
        <p:nvSpPr>
          <p:cNvPr id="3" name="Text 1"/>
          <p:cNvSpPr/>
          <p:nvPr/>
        </p:nvSpPr>
        <p:spPr>
          <a:xfrm>
            <a:off x="640080" y="1051560"/>
            <a:ext cx="7863840" cy="274320"/>
          </a:xfrm>
          <a:prstGeom prst="rect">
            <a:avLst/>
          </a:prstGeom>
          <a:noFill/>
          <a:ln/>
        </p:spPr>
        <p:txBody>
          <a:bodyPr wrap="square" lIns="0" tIns="0" rIns="0" bIns="0" rtlCol="0" anchor="ctr"/>
          <a:lstStyle/>
          <a:p>
            <a:pPr indent="0" marL="0">
              <a:buNone/>
            </a:pPr>
            <a:r>
              <a:rPr lang="en-US" sz="1500" b="1" dirty="0">
                <a:solidFill>
                  <a:srgbClr val="000000"/>
                </a:solidFill>
                <a:latin typeface="Calibri" pitchFamily="34" charset="0"/>
                <a:ea typeface="Calibri" pitchFamily="34" charset="-122"/>
                <a:cs typeface="Calibri" pitchFamily="34" charset="-120"/>
              </a:rPr>
              <a:t>The corpus is synthetic.</a:t>
            </a:r>
            <a:endParaRPr lang="en-US" sz="1500" dirty="0"/>
          </a:p>
        </p:txBody>
      </p:sp>
      <p:sp>
        <p:nvSpPr>
          <p:cNvPr id="4" name="Text 2"/>
          <p:cNvSpPr/>
          <p:nvPr/>
        </p:nvSpPr>
        <p:spPr>
          <a:xfrm>
            <a:off x="640080" y="1371600"/>
            <a:ext cx="7863840" cy="822960"/>
          </a:xfrm>
          <a:prstGeom prst="rect">
            <a:avLst/>
          </a:prstGeom>
          <a:noFill/>
          <a:ln/>
        </p:spPr>
        <p:txBody>
          <a:bodyPr wrap="square" lIns="0" tIns="0" rIns="0" bIns="0" rtlCol="0" anchor="t"/>
          <a:lstStyle/>
          <a:p>
            <a:pPr indent="0" marL="0">
              <a:buNone/>
            </a:pPr>
            <a:r>
              <a:rPr lang="en-US" sz="1400" dirty="0">
                <a:solidFill>
                  <a:srgbClr val="000000"/>
                </a:solidFill>
                <a:latin typeface="Calibri" pitchFamily="34" charset="0"/>
                <a:ea typeface="Calibri" pitchFamily="34" charset="-122"/>
                <a:cs typeface="Calibri" pitchFamily="34" charset="-120"/>
              </a:rPr>
              <a:t>The machine I built this on can't reach the public phishing datasets, so build_dataset.py generates records from a seeded RNG (seed 6850) over 114 templates. Loaders for Nazario, SpamAssassin, PhishTank and UCI are written and get tried first. They have never run against real files here.</a:t>
            </a:r>
            <a:endParaRPr lang="en-US" sz="14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640080" y="2377440"/>
          <a:ext cx="7863840" cy="914400"/>
        </p:xfrm>
        <a:graphic>
          <a:graphicData uri="http://schemas.openxmlformats.org/drawingml/2006/table">
            <a:tbl>
              <a:tblPr/>
              <a:tblGrid>
                <a:gridCol w="1645920"/>
                <a:gridCol w="1554480"/>
                <a:gridCol w="1554480"/>
                <a:gridCol w="1554480"/>
                <a:gridCol w="1554480"/>
              </a:tblGrid>
              <a:tr h="0">
                <a:tc>
                  <a:txBody>
                    <a:bodyPr/>
                    <a:lstStyle/>
                    <a:p>
                      <a:pPr indent="0" marL="0">
                        <a:buNone/>
                      </a:pP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Records</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Phishing</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Benign</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Groups</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Corpus</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8,000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3,356</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4,644</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1,574</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Holdout</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1,200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481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719</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805</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6" name="Text 3"/>
          <p:cNvSpPr/>
          <p:nvPr/>
        </p:nvSpPr>
        <p:spPr>
          <a:xfrm>
            <a:off x="640080" y="3657600"/>
            <a:ext cx="7863840" cy="548640"/>
          </a:xfrm>
          <a:prstGeom prst="rect">
            <a:avLst/>
          </a:prstGeom>
          <a:noFill/>
          <a:ln/>
        </p:spPr>
        <p:txBody>
          <a:bodyPr wrap="square" lIns="0" tIns="0" rIns="0" bIns="0" rtlCol="0" anchor="t"/>
          <a:lstStyle/>
          <a:p>
            <a:pPr indent="0" marL="0">
              <a:buNone/>
            </a:pPr>
            <a:r>
              <a:rPr lang="en-US" sz="1200" i="1" dirty="0">
                <a:solidFill>
                  <a:srgbClr val="555555"/>
                </a:solidFill>
                <a:latin typeface="Calibri" pitchFamily="34" charset="0"/>
                <a:ea typeface="Calibri" pitchFamily="34" charset="-122"/>
                <a:cs typeface="Calibri" pitchFamily="34" charset="-120"/>
              </a:rPr>
              <a:t>300 holdout records come from templates that appear nowhere in the corpus. 1.5% label noise is injected on purpose, so a perfect score would be a bug.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Leakage control</a:t>
            </a:r>
            <a:endParaRPr lang="en-US" sz="2800" dirty="0"/>
          </a:p>
        </p:txBody>
      </p:sp>
      <p:sp>
        <p:nvSpPr>
          <p:cNvPr id="3" name="Text 1"/>
          <p:cNvSpPr/>
          <p:nvPr/>
        </p:nvSpPr>
        <p:spPr>
          <a:xfrm>
            <a:off x="640080" y="1051560"/>
            <a:ext cx="7863840" cy="17373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Templates produce near-duplicate messages. A random split puts siblings of a test message into training and reports a score that means nothing.</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So the split is StratifiedGroupKFold on group_id, where a group is a near-duplicate cluster. Train 4,797, validation 1,603, test 1,600.</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Group overlap between splits is zero, checked and asserted in code.</a:t>
            </a:r>
            <a:endParaRPr lang="en-US" sz="15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640080" y="3017520"/>
          <a:ext cx="3108960" cy="914400"/>
        </p:xfrm>
        <a:graphic>
          <a:graphicData uri="http://schemas.openxmlformats.org/drawingml/2006/table">
            <a:tbl>
              <a:tblPr/>
              <a:tblGrid>
                <a:gridCol w="1554480"/>
                <a:gridCol w="1554480"/>
              </a:tblGrid>
              <a:tr h="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Split</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Test F1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Random</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0.9411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Grouped</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0.9358</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5" name="Text 2"/>
          <p:cNvSpPr/>
          <p:nvPr/>
        </p:nvSpPr>
        <p:spPr>
          <a:xfrm>
            <a:off x="640080" y="4114800"/>
            <a:ext cx="7863840" cy="548640"/>
          </a:xfrm>
          <a:prstGeom prst="rect">
            <a:avLst/>
          </a:prstGeom>
          <a:noFill/>
          <a:ln/>
        </p:spPr>
        <p:txBody>
          <a:bodyPr wrap="square" lIns="0" tIns="0" rIns="0" bIns="0" rtlCol="0" anchor="t"/>
          <a:lstStyle/>
          <a:p>
            <a:pPr indent="0" marL="0">
              <a:buNone/>
            </a:pPr>
            <a:r>
              <a:rPr lang="en-US" sz="1200" i="1" dirty="0">
                <a:solidFill>
                  <a:srgbClr val="555555"/>
                </a:solidFill>
                <a:latin typeface="Calibri" pitchFamily="34" charset="0"/>
                <a:ea typeface="Calibri" pitchFamily="34" charset="-122"/>
                <a:cs typeface="Calibri" pitchFamily="34" charset="-120"/>
              </a:rPr>
              <a:t>A random split would have overstated F1 by about 0.005 here. On real corpora with heavy campaign duplication it would be much larger.</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Features</a:t>
            </a:r>
            <a:endParaRPr lang="en-US" sz="2800" dirty="0"/>
          </a:p>
        </p:txBody>
      </p:sp>
      <p:sp>
        <p:nvSpPr>
          <p:cNvPr id="3" name="Text 1"/>
          <p:cNvSpPr/>
          <p:nvPr/>
        </p:nvSpPr>
        <p:spPr>
          <a:xfrm>
            <a:off x="640080" y="1051560"/>
            <a:ext cx="786384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Text. TF-IDF over subject and body, word 1-2 grams plus char_wb 3-5 grams. Character n-grams catch deliberate misspellings ("acount", "ver1fy") and homoglyph domains that shatter into unseen tokens under word tokenisation.</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URL and lexical, 30 features. URL count, HTTPS ratio, max and mean URL entropy, longest URL, risky TLDs, shortener hosts, brand lookalike distance, length and punctuation counts.</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Header and authentication, 22 features. SPF, DKIM and DMARC results, sender domain shape, freemail sender, reply-to present, reply-to mismatch, display-name brand mismatch, received hop count, role account.</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Model ladder</a:t>
            </a:r>
            <a:endParaRPr lang="en-US" sz="28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7863840" cy="914400"/>
        </p:xfrm>
        <a:graphic>
          <a:graphicData uri="http://schemas.openxmlformats.org/drawingml/2006/table">
            <a:tbl>
              <a:tblPr/>
              <a:tblGrid>
                <a:gridCol w="640080"/>
                <a:gridCol w="5669280"/>
                <a:gridCol w="1554480"/>
              </a:tblGrid>
              <a:tr h="0">
                <a:tc>
                  <a:txBody>
                    <a:bodyPr/>
                    <a:lstStyle/>
                    <a:p>
                      <a:pP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What changed</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150" b="1" dirty="0">
                          <a:solidFill>
                            <a:srgbClr val="000000"/>
                          </a:solidFill>
                          <a:latin typeface="Calibri" pitchFamily="34" charset="0"/>
                          <a:ea typeface="Calibri" pitchFamily="34" charset="-122"/>
                          <a:cs typeface="Calibri" pitchFamily="34" charset="-120"/>
                        </a:rPr>
                        <a:t>Val F1</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r>
              <a:tr h="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M1</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Baseline. Word TF-IDF plus logistic regression</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0.7516</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M2</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Add character n-grams</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0.7830</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M3</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Drop text entirely. URL and header features only, HistGradientBoosting</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0.9705</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M4</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All three families, calibrated LinearSVC</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0.9359</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M5</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All three families, logistic regression, grouped GridSearchCV</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0.9463</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M6</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Soft vote over M3 and M5 (selected)</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150" dirty="0">
                          <a:solidFill>
                            <a:srgbClr val="000000"/>
                          </a:solidFill>
                          <a:latin typeface="Calibri" pitchFamily="34" charset="0"/>
                          <a:ea typeface="Calibri" pitchFamily="34" charset="-122"/>
                          <a:cs typeface="Calibri" pitchFamily="34" charset="-120"/>
                        </a:rPr>
                        <a:t>0.9682</a:t>
                      </a:r>
                      <a:endParaRPr lang="en-US" sz="115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4" name="Text 1"/>
          <p:cNvSpPr/>
          <p:nvPr/>
        </p:nvSpPr>
        <p:spPr>
          <a:xfrm>
            <a:off x="640080" y="3703320"/>
            <a:ext cx="7863840" cy="548640"/>
          </a:xfrm>
          <a:prstGeom prst="rect">
            <a:avLst/>
          </a:prstGeom>
          <a:noFill/>
          <a:ln/>
        </p:spPr>
        <p:txBody>
          <a:bodyPr wrap="square" lIns="0" tIns="0" rIns="0" bIns="0" rtlCol="0" anchor="t"/>
          <a:lstStyle/>
          <a:p>
            <a:pPr indent="0" marL="0">
              <a:buNone/>
            </a:pPr>
            <a:r>
              <a:rPr lang="en-US" sz="1200" i="1" dirty="0">
                <a:solidFill>
                  <a:srgbClr val="555555"/>
                </a:solidFill>
                <a:latin typeface="Calibri" pitchFamily="34" charset="0"/>
                <a:ea typeface="Calibri" pitchFamily="34" charset="-122"/>
                <a:cs typeface="Calibri" pitchFamily="34" charset="-120"/>
              </a:rPr>
              <a:t>Each step tests one idea rather than sweeping hyperparameters. Validation F1 at threshold 0.5.</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Why the ensemble</a:t>
            </a:r>
            <a:endParaRPr lang="en-US" sz="2800" dirty="0"/>
          </a:p>
        </p:txBody>
      </p:sp>
      <p:sp>
        <p:nvSpPr>
          <p:cNvPr id="3" name="Text 1"/>
          <p:cNvSpPr/>
          <p:nvPr/>
        </p:nvSpPr>
        <p:spPr>
          <a:xfrm>
            <a:off x="640080" y="1051560"/>
            <a:ext cx="7863840" cy="3566160"/>
          </a:xfrm>
          <a:prstGeom prst="rect">
            <a:avLst/>
          </a:prstGeom>
          <a:noFill/>
          <a:ln/>
        </p:spPr>
        <p:txBody>
          <a:bodyPr wrap="square" lIns="0" tIns="0" rIns="0" bIns="0" rtlCol="0" anchor="t"/>
          <a:lstStyle/>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M3 and M5 fail differently. M3 can't read the text at all. M5 can't model feature interactions like "SPF fails AND reply-to mismatches".</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Averaging their probabilities trims both error modes. M6 is selected on validation PR-AUC (0.9753).</a:t>
            </a:r>
            <a:endParaRPr lang="en-US" sz="1500" dirty="0"/>
          </a:p>
          <a:p>
            <a:pPr marL="342900" indent="-342900">
              <a:spcAft>
                <a:spcPts val="1000"/>
              </a:spcAft>
              <a:buSzPct val="100000"/>
              <a:buChar char="•"/>
            </a:pPr>
            <a:r>
              <a:rPr lang="en-US" sz="1500" dirty="0">
                <a:solidFill>
                  <a:srgbClr val="000000"/>
                </a:solidFill>
                <a:latin typeface="Calibri" pitchFamily="34" charset="0"/>
                <a:ea typeface="Calibri" pitchFamily="34" charset="-122"/>
                <a:cs typeface="Calibri" pitchFamily="34" charset="-120"/>
              </a:rPr>
              <a:t>M4 scoring below M3 is the text block dragging down a model that already had the useful features.</a:t>
            </a:r>
            <a:endParaRPr lang="en-US" sz="1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Operating point</a:t>
            </a:r>
            <a:endParaRPr lang="en-US" sz="28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7863840" cy="914400"/>
        </p:xfrm>
        <a:graphic>
          <a:graphicData uri="http://schemas.openxmlformats.org/drawingml/2006/table">
            <a:tbl>
              <a:tblPr/>
              <a:tblGrid>
                <a:gridCol w="2011680"/>
                <a:gridCol w="1463040"/>
                <a:gridCol w="1463040"/>
                <a:gridCol w="1463040"/>
                <a:gridCol w="1463040"/>
              </a:tblGrid>
              <a:tr h="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Threshold</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Cost</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0.272 (selected)</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0.9715</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0.9657</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0.9686</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111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0.386 (F1-optimal)</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0.9831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0.9553</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0.9690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131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0.500 (default)</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0.9846</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0.9523</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0.9682</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138</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4" name="Text 1"/>
          <p:cNvSpPr/>
          <p:nvPr/>
        </p:nvSpPr>
        <p:spPr>
          <a:xfrm>
            <a:off x="640080" y="2697480"/>
            <a:ext cx="7863840" cy="548640"/>
          </a:xfrm>
          <a:prstGeom prst="rect">
            <a:avLst/>
          </a:prstGeom>
          <a:noFill/>
          <a:ln/>
        </p:spPr>
        <p:txBody>
          <a:bodyPr wrap="square" lIns="0" tIns="0" rIns="0" bIns="0" rtlCol="0" anchor="t"/>
          <a:lstStyle/>
          <a:p>
            <a:pPr indent="0" marL="0">
              <a:buNone/>
            </a:pPr>
            <a:r>
              <a:rPr lang="en-US" sz="1200" i="1" dirty="0">
                <a:solidFill>
                  <a:srgbClr val="555555"/>
                </a:solidFill>
                <a:latin typeface="Calibri" pitchFamily="34" charset="0"/>
                <a:ea typeface="Calibri" pitchFamily="34" charset="-122"/>
                <a:cs typeface="Calibri" pitchFamily="34" charset="-120"/>
              </a:rPr>
              <a:t>Threshold chosen to minimise expected cost with a false negative weighted 4x, subject to precision staying above 0.90. F1 hardly moves across that range but cost moves 25%.</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Test results</a:t>
            </a:r>
            <a:endParaRPr lang="en-US" sz="28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640080" y="1097280"/>
          <a:ext cx="4754880" cy="914400"/>
        </p:xfrm>
        <a:graphic>
          <a:graphicData uri="http://schemas.openxmlformats.org/drawingml/2006/table">
            <a:tbl>
              <a:tblPr/>
              <a:tblGrid>
                <a:gridCol w="1737360"/>
                <a:gridCol w="1508760"/>
                <a:gridCol w="1508760"/>
              </a:tblGrid>
              <a:tr h="0">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Metric</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At 0.272</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c>
                  <a:txBody>
                    <a:bodyPr/>
                    <a:lstStyle/>
                    <a:p>
                      <a:pPr indent="0" marL="0">
                        <a:buNone/>
                      </a:pPr>
                      <a:r>
                        <a:rPr lang="en-US" sz="1200" b="1" dirty="0">
                          <a:solidFill>
                            <a:srgbClr val="000000"/>
                          </a:solidFill>
                          <a:latin typeface="Calibri" pitchFamily="34" charset="0"/>
                          <a:ea typeface="Calibri" pitchFamily="34" charset="-122"/>
                          <a:cs typeface="Calibri" pitchFamily="34" charset="-120"/>
                        </a:rPr>
                        <a:t>At 0.500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solidFill>
                      <a:srgbClr val="EEEEEE"/>
                    </a:solidFill>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Accuracy</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0.9663</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0.9719</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Precision</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0.9572</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0.9816</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Recall</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0.9629</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0.9510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F1</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0.9600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0.9660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ROC-AUC</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0.9813</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0.9813</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r h="0">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PR-AUC</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0.9740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c>
                  <a:txBody>
                    <a:bodyPr/>
                    <a:lstStyle/>
                    <a:p>
                      <a:pPr indent="0" marL="0">
                        <a:buNone/>
                      </a:pPr>
                      <a:r>
                        <a:rPr lang="en-US" sz="1200" dirty="0">
                          <a:solidFill>
                            <a:srgbClr val="000000"/>
                          </a:solidFill>
                          <a:latin typeface="Calibri" pitchFamily="34" charset="0"/>
                          <a:ea typeface="Calibri" pitchFamily="34" charset="-122"/>
                          <a:cs typeface="Calibri" pitchFamily="34" charset="-120"/>
                        </a:rPr>
                        <a:t>0.9740</a:t>
                      </a:r>
                      <a:endParaRPr lang="en-US" sz="1200" dirty="0">
                        <a:latin typeface="Calibri" charset="0"/>
                        <a:ea typeface="Calibri" charset="0"/>
                        <a:cs typeface="Calibri" charset="0"/>
                      </a:endParaRPr>
                    </a:p>
                  </a:txBody>
                  <a:tcPr marL="91440" marR="91440" marT="45720" marB="45720" anchor="ctr">
                    <a:lnL w="6350" cap="flat" cmpd="sng" algn="ctr">
                      <a:solidFill>
                        <a:srgbClr val="BBBBBB"/>
                      </a:solidFill>
                      <a:prstDash val="solid"/>
                      <a:round/>
                      <a:headEnd type="none" w="med" len="med"/>
                      <a:tailEnd type="none" w="med" len="med"/>
                    </a:lnL>
                    <a:lnR w="6350" cap="flat" cmpd="sng" algn="ctr">
                      <a:solidFill>
                        <a:srgbClr val="BBBBBB"/>
                      </a:solidFill>
                      <a:prstDash val="solid"/>
                      <a:round/>
                      <a:headEnd type="none" w="med" len="med"/>
                      <a:tailEnd type="none" w="med" len="med"/>
                    </a:lnR>
                    <a:lnT w="6350" cap="flat" cmpd="sng" algn="ctr">
                      <a:solidFill>
                        <a:srgbClr val="BBBBBB"/>
                      </a:solidFill>
                      <a:prstDash val="solid"/>
                      <a:round/>
                      <a:headEnd type="none" w="med" len="med"/>
                      <a:tailEnd type="none" w="med" len="med"/>
                    </a:lnT>
                    <a:lnB w="6350" cap="flat" cmpd="sng" algn="ctr">
                      <a:solidFill>
                        <a:srgbClr val="BBBBBB"/>
                      </a:solidFill>
                      <a:prstDash val="solid"/>
                      <a:round/>
                      <a:headEnd type="none" w="med" len="med"/>
                      <a:tailEnd type="none" w="med" len="med"/>
                    </a:lnB>
                  </a:tcPr>
                </a:tc>
              </a:tr>
            </a:tbl>
          </a:graphicData>
        </a:graphic>
      </p:graphicFrame>
      <p:sp>
        <p:nvSpPr>
          <p:cNvPr id="4" name="Text 1"/>
          <p:cNvSpPr/>
          <p:nvPr/>
        </p:nvSpPr>
        <p:spPr>
          <a:xfrm>
            <a:off x="640080" y="3657600"/>
            <a:ext cx="7863840" cy="548640"/>
          </a:xfrm>
          <a:prstGeom prst="rect">
            <a:avLst/>
          </a:prstGeom>
          <a:noFill/>
          <a:ln/>
        </p:spPr>
        <p:txBody>
          <a:bodyPr wrap="square" lIns="0" tIns="0" rIns="0" bIns="0" rtlCol="0" anchor="t"/>
          <a:lstStyle/>
          <a:p>
            <a:pPr indent="0" marL="0">
              <a:buNone/>
            </a:pPr>
            <a:r>
              <a:rPr lang="en-US" sz="1200" i="1" dirty="0">
                <a:solidFill>
                  <a:srgbClr val="555555"/>
                </a:solidFill>
                <a:latin typeface="Calibri" pitchFamily="34" charset="0"/>
                <a:ea typeface="Calibri" pitchFamily="34" charset="-122"/>
                <a:cs typeface="Calibri" pitchFamily="34" charset="-120"/>
              </a:rPr>
              <a:t>Held out until model and threshold were both frozen, then evaluated once. Test F1 0.960 against validation 0.969: a small drop is what you want. A test score above validation would suggest the split leaked.</a:t>
            </a:r>
            <a:endParaRPr lang="en-US" sz="12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Confusion matrix</a:t>
            </a:r>
            <a:endParaRPr lang="en-US" sz="2800" dirty="0"/>
          </a:p>
        </p:txBody>
      </p:sp>
      <p:pic>
        <p:nvPicPr>
          <p:cNvPr id="3" name="Image 0" descr="/root/work/build/ml/reports/confusion_matrix.png">    </p:cNvPr>
          <p:cNvPicPr>
            <a:picLocks noChangeAspect="1"/>
          </p:cNvPicPr>
          <p:nvPr/>
        </p:nvPicPr>
        <p:blipFill>
          <a:blip r:embed="rId1"/>
          <a:stretch>
            <a:fillRect/>
          </a:stretch>
        </p:blipFill>
        <p:spPr>
          <a:xfrm>
            <a:off x="640080" y="1371600"/>
            <a:ext cx="7863840" cy="329184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ROC and precision-recall curves</a:t>
            </a:r>
            <a:endParaRPr lang="en-US" sz="2800" dirty="0"/>
          </a:p>
        </p:txBody>
      </p:sp>
      <p:pic>
        <p:nvPicPr>
          <p:cNvPr id="3" name="Image 0" descr="/root/work/build/ml/reports/roc_pr_curves.png">    </p:cNvPr>
          <p:cNvPicPr>
            <a:picLocks noChangeAspect="1"/>
          </p:cNvPicPr>
          <p:nvPr/>
        </p:nvPicPr>
        <p:blipFill>
          <a:blip r:embed="rId1"/>
          <a:stretch>
            <a:fillRect/>
          </a:stretch>
        </p:blipFill>
        <p:spPr>
          <a:xfrm>
            <a:off x="640080" y="1371600"/>
            <a:ext cx="7863840" cy="3273552"/>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Error analysis</a:t>
            </a:r>
            <a:endParaRPr lang="en-US" sz="2800" dirty="0"/>
          </a:p>
        </p:txBody>
      </p:sp>
      <p:sp>
        <p:nvSpPr>
          <p:cNvPr id="3" name="Text 1"/>
          <p:cNvSpPr/>
          <p:nvPr/>
        </p:nvSpPr>
        <p:spPr>
          <a:xfrm>
            <a:off x="640080" y="1051560"/>
            <a:ext cx="7863840" cy="3200400"/>
          </a:xfrm>
          <a:prstGeom prst="rect">
            <a:avLst/>
          </a:prstGeom>
          <a:noFill/>
          <a:ln/>
        </p:spPr>
        <p:txBody>
          <a:bodyPr wrap="square" lIns="0" tIns="0" rIns="0" bIns="0" rtlCol="0" anchor="t"/>
          <a:lstStyle/>
          <a:p>
            <a:pPr marL="342900" indent="-342900">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29 false positives and 25 false negatives on the test set. Of those, 21 FPs and 9 FNs are real model failures. The rest sit on records the noise process deliberately flipped, so the model was right and the label was wrong.</a:t>
            </a:r>
            <a:endParaRPr lang="en-US" sz="1350" dirty="0"/>
          </a:p>
          <a:p>
            <a:pPr marL="342900" indent="-342900">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False negatives: 12 of 25 pass all three authentication checks. A phishing message from a genuinely authenticated domain defeats the strongest feature family the model has.</a:t>
            </a:r>
            <a:endParaRPr lang="en-US" sz="1350" dirty="0"/>
          </a:p>
          <a:p>
            <a:pPr marL="342900" indent="-342900">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False positives: almost all are legitimate mail with no URLs. With no links to score, the URL family contributes zeros, and several of those zeros push toward phishing.</a:t>
            </a:r>
            <a:endParaRPr lang="en-US" sz="1350" dirty="0"/>
          </a:p>
          <a:p>
            <a:pPr marL="342900" indent="-342900">
              <a:spcAft>
                <a:spcPts val="1000"/>
              </a:spcAft>
              <a:buSzPct val="100000"/>
              <a:buChar char="•"/>
            </a:pPr>
            <a:r>
              <a:rPr lang="en-US" sz="1350" dirty="0">
                <a:solidFill>
                  <a:srgbClr val="000000"/>
                </a:solidFill>
                <a:latin typeface="Calibri" pitchFamily="34" charset="0"/>
                <a:ea typeface="Calibri" pitchFamily="34" charset="-122"/>
                <a:cs typeface="Calibri" pitchFamily="34" charset="-120"/>
              </a:rPr>
              <a:t>Fix: add an explicit "no URLs present" indicator so the model can tell "no links" from "bad links" instead of encoding both as zero.</a:t>
            </a:r>
            <a:endParaRPr lang="en-US" sz="1350" dirty="0"/>
          </a:p>
        </p:txBody>
      </p:sp>
      <p:sp>
        <p:nvSpPr>
          <p:cNvPr id="4" name="Text 2"/>
          <p:cNvSpPr/>
          <p:nvPr/>
        </p:nvSpPr>
        <p:spPr>
          <a:xfrm>
            <a:off x="640080" y="4297680"/>
            <a:ext cx="7863840" cy="548640"/>
          </a:xfrm>
          <a:prstGeom prst="rect">
            <a:avLst/>
          </a:prstGeom>
          <a:noFill/>
          <a:ln/>
        </p:spPr>
        <p:txBody>
          <a:bodyPr wrap="square" lIns="0" tIns="0" rIns="0" bIns="0" rtlCol="0" anchor="t"/>
          <a:lstStyle/>
          <a:p>
            <a:pPr indent="0" marL="0">
              <a:buNone/>
            </a:pPr>
            <a:r>
              <a:rPr lang="en-US" sz="1200" i="1" dirty="0">
                <a:solidFill>
                  <a:srgbClr val="555555"/>
                </a:solidFill>
                <a:latin typeface="Calibri" pitchFamily="34" charset="0"/>
                <a:ea typeface="Calibri" pitchFamily="34" charset="-122"/>
                <a:cs typeface="Calibri" pitchFamily="34" charset="-120"/>
              </a:rPr>
              <a:t>Worked examples in ml/reports/error_examples.md.</a:t>
            </a:r>
            <a:endParaRPr lang="en-US" sz="12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Feature importance</a:t>
            </a:r>
            <a:endParaRPr lang="en-US" sz="2800" dirty="0"/>
          </a:p>
        </p:txBody>
      </p:sp>
      <p:pic>
        <p:nvPicPr>
          <p:cNvPr id="3" name="Image 0" descr="/tmp/fi_top.png">    </p:cNvPr>
          <p:cNvPicPr>
            <a:picLocks noChangeAspect="1"/>
          </p:cNvPicPr>
          <p:nvPr/>
        </p:nvPicPr>
        <p:blipFill>
          <a:blip r:embed="rId1"/>
          <a:stretch>
            <a:fillRect/>
          </a:stretch>
        </p:blipFill>
        <p:spPr>
          <a:xfrm>
            <a:off x="640080" y="1325880"/>
            <a:ext cx="7863840" cy="3008376"/>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Strongest text n-grams</a:t>
            </a:r>
            <a:endParaRPr lang="en-US" sz="2800" dirty="0"/>
          </a:p>
        </p:txBody>
      </p:sp>
      <p:pic>
        <p:nvPicPr>
          <p:cNvPr id="3" name="Image 0" descr="/tmp/fi_bottom.png">    </p:cNvPr>
          <p:cNvPicPr>
            <a:picLocks noChangeAspect="1"/>
          </p:cNvPicPr>
          <p:nvPr/>
        </p:nvPicPr>
        <p:blipFill>
          <a:blip r:embed="rId1"/>
          <a:stretch>
            <a:fillRect/>
          </a:stretch>
        </p:blipFill>
        <p:spPr>
          <a:xfrm>
            <a:off x="640080" y="1417320"/>
            <a:ext cx="7863840" cy="2761488"/>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Ethics</a:t>
            </a:r>
            <a:endParaRPr lang="en-US" sz="2800" dirty="0"/>
          </a:p>
        </p:txBody>
      </p:sp>
      <p:sp>
        <p:nvSpPr>
          <p:cNvPr id="3" name="Text 1"/>
          <p:cNvSpPr/>
          <p:nvPr/>
        </p:nvSpPr>
        <p:spPr>
          <a:xfrm>
            <a:off x="640080" y="1051560"/>
            <a:ext cx="7863840" cy="3566160"/>
          </a:xfrm>
          <a:prstGeom prst="rect">
            <a:avLst/>
          </a:prstGeom>
          <a:noFill/>
          <a:ln/>
        </p:spPr>
        <p:txBody>
          <a:bodyPr wrap="square" lIns="0" tIns="0" rIns="0" bIns="0" rtlCol="0" anchor="t"/>
          <a:lstStyle/>
          <a:p>
            <a:pPr marL="342900" indent="-342900">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False positives hurt. Quarantined business mail costs time and, on a legal deadline or a customer escalation, money. A noisy filter also gets ignored, which makes false negatives worse. That is why precision has a floor rather than being traded off freely.</a:t>
            </a:r>
            <a:endParaRPr lang="en-US" sz="1300" dirty="0"/>
          </a:p>
          <a:p>
            <a:pPr marL="342900" indent="-342900">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Privacy. The model reads email content. It should run inside the buyer's boundary, not as a service that sees their mail. Nothing in this pipeline ships email content anywhere.</a:t>
            </a:r>
            <a:endParaRPr lang="en-US" sz="1300" dirty="0"/>
          </a:p>
          <a:p>
            <a:pPr marL="342900" indent="-342900">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Evasion. An attacker who knows the features can defeat them: a real domain with valid SPF, no digits or hyphens, a plausible display name. The header family is the strongest and the most gameable.</a:t>
            </a:r>
            <a:endParaRPr lang="en-US" sz="1300" dirty="0"/>
          </a:p>
          <a:p>
            <a:pPr marL="342900" indent="-342900">
              <a:spcAft>
                <a:spcPts val="1000"/>
              </a:spcAft>
              <a:buSzPct val="100000"/>
              <a:buChar char="•"/>
            </a:pPr>
            <a:r>
              <a:rPr lang="en-US" sz="1300" dirty="0">
                <a:solidFill>
                  <a:srgbClr val="000000"/>
                </a:solidFill>
                <a:latin typeface="Calibri" pitchFamily="34" charset="0"/>
                <a:ea typeface="Calibri" pitchFamily="34" charset="-122"/>
                <a:cs typeface="Calibri" pitchFamily="34" charset="-120"/>
              </a:rPr>
              <a:t>Bias. English-only, from a synthesiser I wrote. Freemail sender is a top phishing feature, and small businesses legitimately send from freemail addresses.</a:t>
            </a:r>
            <a:endParaRPr lang="en-US" sz="13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Reproducing this</a:t>
            </a:r>
            <a:endParaRPr lang="en-US" sz="2800" dirty="0"/>
          </a:p>
        </p:txBody>
      </p:sp>
      <p:sp>
        <p:nvSpPr>
          <p:cNvPr id="3" name="Text 1"/>
          <p:cNvSpPr/>
          <p:nvPr/>
        </p:nvSpPr>
        <p:spPr>
          <a:xfrm>
            <a:off x="640080" y="1097280"/>
            <a:ext cx="7863840" cy="731520"/>
          </a:xfrm>
          <a:prstGeom prst="rect">
            <a:avLst/>
          </a:prstGeom>
          <a:noFill/>
          <a:ln/>
        </p:spPr>
        <p:txBody>
          <a:bodyPr wrap="square" lIns="0" tIns="0" rIns="0" bIns="0" rtlCol="0" anchor="t"/>
          <a:lstStyle/>
          <a:p>
            <a:pPr indent="0" marL="0">
              <a:buNone/>
            </a:pPr>
            <a:r>
              <a:rPr lang="en-US" sz="1400" dirty="0">
                <a:solidFill>
                  <a:srgbClr val="000000"/>
                </a:solidFill>
                <a:latin typeface="Courier New" pitchFamily="34" charset="0"/>
                <a:ea typeface="Courier New" pitchFamily="34" charset="-122"/>
                <a:cs typeface="Courier New" pitchFamily="34" charset="-120"/>
              </a:rPr>
              <a:t>pip install -r ml/requirements.txt</a:t>
            </a:r>
            <a:endParaRPr lang="en-US" sz="1400" dirty="0"/>
          </a:p>
          <a:p>
            <a:pPr indent="0" marL="0">
              <a:buNone/>
            </a:pPr>
            <a:r>
              <a:rPr lang="en-US" sz="1400" dirty="0">
                <a:solidFill>
                  <a:srgbClr val="000000"/>
                </a:solidFill>
                <a:latin typeface="Courier New" pitchFamily="34" charset="0"/>
                <a:ea typeface="Courier New" pitchFamily="34" charset="-122"/>
                <a:cs typeface="Courier New" pitchFamily="34" charset="-120"/>
              </a:rPr>
              <a:t>npm run ml:all</a:t>
            </a:r>
            <a:endParaRPr lang="en-US" sz="1400" dirty="0"/>
          </a:p>
        </p:txBody>
      </p:sp>
      <p:sp>
        <p:nvSpPr>
          <p:cNvPr id="4" name="Text 2"/>
          <p:cNvSpPr/>
          <p:nvPr/>
        </p:nvSpPr>
        <p:spPr>
          <a:xfrm>
            <a:off x="640080" y="2057400"/>
            <a:ext cx="7863840" cy="237744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About 95 seconds end to end: build the corpus, train the ladder, evaluate once.</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Seed 6850 throughout, so the corpus regenerates byte for byte. data/holdout_manifest.json carries the hash it should produce.</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evaluate.py writes reports/oracle_report.json, carrying accuracy, latency, drift and the holdout manifest hash.</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requirements.txt pins the Python side. Node 20 and Python 3.11.</a:t>
            </a:r>
            <a:endParaRPr lang="en-US" sz="1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The platform it plugs into</a:t>
            </a:r>
            <a:endParaRPr lang="en-US" sz="2800" dirty="0"/>
          </a:p>
        </p:txBody>
      </p:sp>
      <p:sp>
        <p:nvSpPr>
          <p:cNvPr id="3" name="Text 1"/>
          <p:cNvSpPr/>
          <p:nvPr/>
        </p:nvSpPr>
        <p:spPr>
          <a:xfrm>
            <a:off x="640080" y="1051560"/>
            <a:ext cx="786384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The classifier is the product being licensed on NexusAI, a multi-chain marketplace for AI model licences. Ten Solidity contracts, 195 tests, 99.8% statement coverage.</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evaluate.py writes the oracle payload. An oracle committee submits it, the contract takes the median, and the marketplace refuses to sell the model if measured accuracy falls below the floor its provider declared.</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Deployed live: hub on Ethereum Sepolia, spoke on Ethereum Hoodi, with the cross-chain workflow run across both in 14 transactions.</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Details in the technical documentation, security review and business case.</a:t>
            </a:r>
            <a:endParaRPr lang="en-US" sz="1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548640" y="320040"/>
            <a:ext cx="8046720" cy="548640"/>
          </a:xfrm>
          <a:prstGeom prst="rect">
            <a:avLst/>
          </a:prstGeom>
          <a:noFill/>
          <a:ln/>
        </p:spPr>
        <p:txBody>
          <a:bodyPr wrap="square" lIns="0" tIns="0" rIns="0" bIns="0" rtlCol="0" anchor="ctr"/>
          <a:lstStyle/>
          <a:p>
            <a:pPr indent="0" marL="0">
              <a:buNone/>
            </a:pPr>
            <a:r>
              <a:rPr lang="en-US" sz="2800" b="1" dirty="0">
                <a:solidFill>
                  <a:srgbClr val="000000"/>
                </a:solidFill>
                <a:latin typeface="Calibri" pitchFamily="34" charset="0"/>
                <a:ea typeface="Calibri" pitchFamily="34" charset="-122"/>
                <a:cs typeface="Calibri" pitchFamily="34" charset="-120"/>
              </a:rPr>
              <a:t>Limitations and next steps</a:t>
            </a:r>
            <a:endParaRPr lang="en-US" sz="2800" dirty="0"/>
          </a:p>
        </p:txBody>
      </p:sp>
      <p:sp>
        <p:nvSpPr>
          <p:cNvPr id="3" name="Text 1"/>
          <p:cNvSpPr/>
          <p:nvPr/>
        </p:nvSpPr>
        <p:spPr>
          <a:xfrm>
            <a:off x="640080" y="1051560"/>
            <a:ext cx="7863840" cy="356616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The corpus is synthetic. That is the big one, and everything else is downstream of it.</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English only. No attachment analysis, no HTML structure, no image content.</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No temporal split. Real phishing evolves, and a chronological holdout would be a harder and more honest test.</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The threshold was picked on one validation split, not bootstrapped, so there is no confidence interval on it.</a:t>
            </a:r>
            <a:endParaRPr lang="en-US" sz="1400" dirty="0"/>
          </a:p>
          <a:p>
            <a:pPr marL="342900" indent="-342900">
              <a:spcAft>
                <a:spcPts val="1000"/>
              </a:spcAft>
              <a:buSzPct val="100000"/>
              <a:buChar char="•"/>
            </a:pPr>
            <a:r>
              <a:rPr lang="en-US" sz="1400" dirty="0">
                <a:solidFill>
                  <a:srgbClr val="000000"/>
                </a:solidFill>
                <a:latin typeface="Calibri" pitchFamily="34" charset="0"/>
                <a:ea typeface="Calibri" pitchFamily="34" charset="-122"/>
                <a:cs typeface="Calibri" pitchFamily="34" charset="-120"/>
              </a:rPr>
              <a:t>Next: re-run on Nazario, SpamAssassin and PhishTank, add a temporal split, add the no-URL indicator, and try a transformer on the text block.</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Phishing email detection</dc:title>
  <dc:subject>AAI6850 Module 15 capstone</dc:subject>
  <dc:creator>Julian Calvo</dc:creator>
  <cp:lastModifiedBy>Julian Calvo</cp:lastModifiedBy>
  <cp:revision>1</cp:revision>
  <dcterms:created xsi:type="dcterms:W3CDTF">2026-08-18T03:23:40Z</dcterms:created>
  <dcterms:modified xsi:type="dcterms:W3CDTF">2026-08-18T03:23:40Z</dcterms:modified>
</cp:coreProperties>
</file>